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63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introducing the project as a 7-day individual capstone covering the full data pipeline — from raw AMFI data to a working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solving 5 concrete business problems from the brief: data fragmentation, performance comparison gap, no benchmark tracking, investor behaviour blind spots, and slow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 stat callouts first, then point out the dataset table covers fund metadata, NAV history, AUM, SIP flows, investor transactions, holdings, and benchmark indices.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five-layer architecture, mirroring real fintech pipelines used at Zerodha/Groww/Paytm Money per the project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Highlight: SBI's AUM dominance, SIP all-time high in Dec 2025, and the contrast between volatile equity NAVs and steady liquid fund NAVs.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out the gender gap explicitly as an actionable insight for AMCs, and the liquid-fund dominance in net inflows.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top-5 scorecard, then the metric list, then the benchmark chart — point out Axis Bluechip leads the composite score despite HDFC having the highest raw Sharpe.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rolling Sharpe chart shows two performance tiers among the five tracked funds — this is one of the most actionable risk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the actual Power BI screenshots for Page 1 (Industry Overview: KPI cards, AUM trend, fund-house bar chart) and Page 2 (Fund Performance: scatter, scorecard table, NAV vs benchmark)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the actual Power BI screenshots for Page 3 (Investor Analytics: state map/bar, SIP/Lumpsum/Redemption donut, age-group bars) and Page 4 (SIP &amp; Market Trends: dual-axis chart, category heatmap)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all six findings briefly — these are the headline takeaways for the report's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to the GitHub repo (tag v1.0) as the canonical source for all code, notebooks, the database, and the dashboard file.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5029200" cy="502920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Bluestone_MF_Dashboard_Analysis Report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Intern, Bluestock Fintech (MJ28)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/ Fintech Domain  •  7-Day Individual Capstone  •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4F7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₹81 lakh crore AUM, 1,908 schemes, 26.12 crore folios — yet investors lack a unified, risk-adjusted way to compare funds.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AUM, SIP, and holdings data live in fragmented formats (TXT, PDF, HTML) across AMFI's site.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retail investors don't know if their fund is beating its benchmark.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are static PDFs — no live, self-service drill-down.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201168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ETL pipeline that consolidates 10 AMFI/mfapi.in datasets into one SQLite database.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risk-adjusted performance metrics: Sharpe, Sortino, Alpha, Beta, Max Drawdown.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schemes against Nifty 50 / Nifty 100 / BSE SmallCap.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4-page Power BI dashboard for fund selection.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17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Fund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D948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417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9184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0" y="1417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87K+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03504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78240" y="12801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D9488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0" y="1417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Yrs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77824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9235440" cy="19202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 fund_master.csv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schemes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 nav_history.csv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~46,000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 aum_by_fund_house.csv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 monthly_sip_inflows.csv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 category_inflows.csv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~144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 industry_folio_count.csv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 scheme_performance.csv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 investor_transactions.csv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~32,000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  portfolio_holdings.csv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~320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 benchmark_indices.csv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~8,000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ETL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26318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65860" y="17830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bluestock_mf_capstone/scripts/icons/cloud_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08" y="193852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3246120"/>
            <a:ext cx="18379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NAV/TXT, mfapi.in REST API,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NSE/BSE Bhavcopy, 10 CSVs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24328" y="3337560"/>
            <a:ext cx="128016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0" name="Shape 7"/>
          <p:cNvSpPr/>
          <p:nvPr/>
        </p:nvSpPr>
        <p:spPr>
          <a:xfrm>
            <a:off x="2770632" y="146304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26318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7852" y="17830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bluestock_mf_capstone/scripts/icons/project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193852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70632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70632" y="27889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880360" y="3246120"/>
            <a:ext cx="18379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cleaning, forward-fill,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CAGR/returns, code validation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46320" y="3337560"/>
            <a:ext cx="128016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7" name="Shape 13"/>
          <p:cNvSpPr/>
          <p:nvPr/>
        </p:nvSpPr>
        <p:spPr>
          <a:xfrm>
            <a:off x="4992624" y="146304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26318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609844" y="17830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/home/claude/bluestock_mf_capstone/scripts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292" y="1938528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92624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992624" y="27889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102352" y="3246120"/>
            <a:ext cx="18379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5-table star schema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(dim_fund, dim_date, fact_nav...)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068312" y="3337560"/>
            <a:ext cx="128016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4" name="Shape 19"/>
          <p:cNvSpPr/>
          <p:nvPr/>
        </p:nvSpPr>
        <p:spPr>
          <a:xfrm>
            <a:off x="7214616" y="146304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26318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831836" y="17830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/home/claude/bluestock_mf_capstone/scripts/icons/chart_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7284" y="1938528"/>
            <a:ext cx="512064" cy="5120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14616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214616" y="27889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324344" y="3246120"/>
            <a:ext cx="18379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Sortino, Alpha, Beta,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cohort analysis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290304" y="3337560"/>
            <a:ext cx="128016" cy="18288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31" name="Shape 25"/>
          <p:cNvSpPr/>
          <p:nvPr/>
        </p:nvSpPr>
        <p:spPr>
          <a:xfrm>
            <a:off x="9436608" y="146304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26318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0053828" y="17830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4" descr="/home/claude/bluestock_mf_capstone/scripts/icons/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9276" y="1938528"/>
            <a:ext cx="512064" cy="51206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436608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9436608" y="27889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9546336" y="3246120"/>
            <a:ext cx="18379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Power BI dashboard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slicers &amp; KPI cards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end-to-end by run_pipeline.py — ingestion → cleaning → DB load → metrics → risk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Industry Trends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" name="Image 0" descr="/home/claude/bluestock_mf_capstone/reports/charts/nav_tren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143000"/>
            <a:ext cx="338328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 (2022–2026)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251960" y="1005840"/>
            <a:ext cx="3657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1" descr="/home/claude/bluestock_mf_capstone/reports/charts/aum_growth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89120" y="1143000"/>
            <a:ext cx="3383280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5196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 by Fund House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8046720" y="1005840"/>
            <a:ext cx="3657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2" descr="/home/claude/bluestock_mf_capstone/reports/charts/sip_tren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83880" y="1143000"/>
            <a:ext cx="3383280" cy="2286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 Trend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57200" y="3886200"/>
            <a:ext cx="1124712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</p:spPr>
      </p:sp>
      <p:sp>
        <p:nvSpPr>
          <p:cNvPr id="13" name="Text 8"/>
          <p:cNvSpPr/>
          <p:nvPr/>
        </p:nvSpPr>
        <p:spPr>
          <a:xfrm>
            <a:off x="777240" y="40690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holds clear AUM leadership (₹12.50L Cr, Dec 2025), with the gap widening every year.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grew from ~₹11,500 Cr (2022) to the real all-time high of ₹31,002 Cr (Dec 2025).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NAVs show clear corrections (2024) vs the steady, low-volatility climb of liquid funds.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Investor &amp; Category Patterns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" name="Image 0" descr="/home/claude/bluestock_mf_capstone/reports/charts/age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078992"/>
            <a:ext cx="2523744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Age Distribution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337560" y="960120"/>
            <a:ext cx="27432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1" descr="/home/claude/bluestock_mf_capstone/reports/charts/gender_spli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47288" y="1078992"/>
            <a:ext cx="2523744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3756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Gender Split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217920" y="960120"/>
            <a:ext cx="5440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2" descr="/home/claude/bluestock_mf_capstone/reports/charts/category_heatmap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27648" y="1078992"/>
            <a:ext cx="5230368" cy="2286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7920" y="338328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Inflow Heatmap (FY24–25)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57200" y="3886200"/>
            <a:ext cx="11247120" cy="1965960"/>
          </a:xfrm>
          <a:prstGeom prst="roundRect">
            <a:avLst>
              <a:gd name="adj" fmla="val 3721"/>
            </a:avLst>
          </a:prstGeom>
          <a:solidFill>
            <a:srgbClr val="F4F7FC"/>
          </a:solidFill>
          <a:ln/>
        </p:spPr>
      </p:sp>
      <p:sp>
        <p:nvSpPr>
          <p:cNvPr id="13" name="Text 8"/>
          <p:cNvSpPr/>
          <p:nvPr/>
        </p:nvSpPr>
        <p:spPr>
          <a:xfrm>
            <a:off x="777240" y="40690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year-olds are the largest investor cohort (41.1%); 26–45 together form two-thirds of all investors.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gap: 66.5% male vs 33.5% female — a clear opportunity for targeted engagement.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dominate net category inflows (₹32K–42K Cr/month), far above any equity category.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— Top 5 by Composite Score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858000" cy="23042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3yr Ret%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Bluechip Fund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 Parikh Flexi 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 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Top 100 Fund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Small Cap Fund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Bluechip Fund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03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30%×(3yr Return) + 25%×(Sharpe) + 20%×(Alpha) + 15%×(Exp. Ratio, inv) + 10%×(Max DD, inv)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726680" y="114300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0100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Computed</a:t>
            </a:r>
            <a:endParaRPr lang="en-US" sz="1500" dirty="0"/>
          </a:p>
        </p:txBody>
      </p:sp>
      <p:sp>
        <p:nvSpPr>
          <p:cNvPr id="4" name="Text 5"/>
          <p:cNvSpPr/>
          <p:nvPr/>
        </p:nvSpPr>
        <p:spPr>
          <a:xfrm>
            <a:off x="8001000" y="17830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— 1yr / 3yr / 5yr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(Rf = 6.5%)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 (downside risk)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&amp; Beta vs Nifty 100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343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vs Top Funds</a:t>
            </a:r>
            <a:endParaRPr lang="en-US" sz="1400" dirty="0"/>
          </a:p>
        </p:txBody>
      </p:sp>
      <p:pic>
        <p:nvPicPr>
          <p:cNvPr id="10" name="Image 0" descr="/home/claude/bluestock_mf_capstone/reports/charts/benchmark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4681728"/>
            <a:ext cx="667512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 Ratio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bluestock_mf_capstone/reports/charts/rolling_sharpe_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91640"/>
            <a:ext cx="649224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143000"/>
            <a:ext cx="4114800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1812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(95%) &amp; CVaR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18120" y="16459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percentile of daily return distribution; CVaR = mean of returns below that threshold. Liquid funds show near-zero VaR vs equity schemes.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89520" y="3154680"/>
            <a:ext cx="411480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81812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Concentration (HHI)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18120" y="3657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= Σ(weight_i²). Banking (19.2%) + IT (13.4%) = 32.6% of equity holdings — moderate concentration risk.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0749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52120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Sharpe bands emerge: codes 120507/120844/101208 sustain 10–18 rolling Sharpe, while 100025/119120 cluster much lower (-2 to 5), with dips into negative territory in late 2022 and late 2025.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Pages 1 &amp;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40680" cy="466344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455334" y="585216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 — Industry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(screenshot to be inserted)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0"/>
            <a:ext cx="5440680" cy="466344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7D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0" y="585216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 — Fund 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352044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(screenshot to be inserted)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Pages 3 &amp; 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40680" cy="466344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7D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2027" y="6035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3 — Investor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(screenshot to be inserted)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02682" y="1097280"/>
            <a:ext cx="5440680" cy="466344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C7D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84167" y="6035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4 — SIP &amp; Market Trends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352044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(screenshot to be inserted)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26318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17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bluestock_mf_capstone/scripts/icons/char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5453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leads AUM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5603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₹12.50L Cr in Dec 2025, with the lead widening every year since 2022.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11887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26318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6280" y="1417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bluestock_mf_capstone/scripts/icons/search_dol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54533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1031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hit record high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26280" y="25603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from ~₹11,500 Cr to ₹31,002 Cr (Dec 2025) — a real AMFI milestone.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11887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26318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75320" y="1417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bluestock_mf_capstone/scripts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15453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1031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cohort dominates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75320" y="25603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41.1% of investors; gender gap of 66.5% male vs 33.5% female.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7033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26318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9319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/home/claude/bluestock_mf_capstone/scripts/icons/balance_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05993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617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risk-adjusted tiers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77240" y="50749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Sharpe splits tracked funds into a high band (10–18) and low band (-2 to 5).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297680" y="37033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26318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26280" y="39319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/home/claude/bluestock_mf_capstone/scripts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405993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26280" y="4617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sector concentration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526280" y="50749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+ IT = 32.6% of equity holdings weight across portfolios.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046720" y="37033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263180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275320" y="39319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/home/claude/bluestock_mf_capstone/scripts/icons/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3336" y="4059936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75320" y="4617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dominate inflows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275320" y="50749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₹32K–42K Cr/month — far outpacing every equity category combined.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5029200" cy="502920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263180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/home/claude/bluestock_mf_capstone/scripts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1031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github.com/saraswatsakshi12/bluestock-mf-capstone  •  Tag v1.0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1352</Words>
  <Application>Microsoft Office PowerPoint</Application>
  <PresentationFormat>Widescreen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Capstone</dc:title>
  <dc:subject>PptxGenJS Presentation</dc:subject>
  <dc:creator>Bluestock Fintech — Data Analyst Intern (MJ28)</dc:creator>
  <cp:lastModifiedBy>Sakshi Saraswat</cp:lastModifiedBy>
  <cp:revision>2</cp:revision>
  <dcterms:created xsi:type="dcterms:W3CDTF">2026-06-22T11:27:15Z</dcterms:created>
  <dcterms:modified xsi:type="dcterms:W3CDTF">2026-06-22T12:01:31Z</dcterms:modified>
</cp:coreProperties>
</file>